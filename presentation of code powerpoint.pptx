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81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مقطع بدون عنوان" id="{B481A09E-5143-42D8-9508-E2CD858C266F}">
          <p14:sldIdLst>
            <p14:sldId id="256"/>
            <p14:sldId id="257"/>
            <p14:sldId id="258"/>
            <p14:sldId id="259"/>
            <p14:sldId id="260"/>
            <p14:sldId id="261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81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0C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345" autoAdjust="0"/>
    <p:restoredTop sz="94684" autoAdjust="0"/>
  </p:normalViewPr>
  <p:slideViewPr>
    <p:cSldViewPr>
      <p:cViewPr>
        <p:scale>
          <a:sx n="75" d="100"/>
          <a:sy n="75" d="100"/>
        </p:scale>
        <p:origin x="-1574" y="-77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23036A5D-D1ED-4081-B8FA-7024C9040DD2}" type="datetimeFigureOut">
              <a:rPr lang="ar-SA" smtClean="0"/>
              <a:t>29/04/1446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F445C836-9B6A-414E-9A8D-7D1D8D96047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25561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45C836-9B6A-414E-9A8D-7D1D8D96047A}" type="slidenum">
              <a:rPr lang="ar-SA" smtClean="0"/>
              <a:t>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23250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 smtClean="0"/>
              <a:t>انقر لتحرير نمط العنوان الثانوي الرئيسي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42E3-BB74-4706-8998-E1FC06EBE8BD}" type="datetimeFigureOut">
              <a:rPr lang="ar-SA" smtClean="0"/>
              <a:t>29/04/1446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1D465-4954-481E-9485-02F62D6D02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66552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42E3-BB74-4706-8998-E1FC06EBE8BD}" type="datetimeFigureOut">
              <a:rPr lang="ar-SA" smtClean="0"/>
              <a:t>29/04/1446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1D465-4954-481E-9485-02F62D6D02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14945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42E3-BB74-4706-8998-E1FC06EBE8BD}" type="datetimeFigureOut">
              <a:rPr lang="ar-SA" smtClean="0"/>
              <a:t>29/04/1446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1D465-4954-481E-9485-02F62D6D02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75202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42E3-BB74-4706-8998-E1FC06EBE8BD}" type="datetimeFigureOut">
              <a:rPr lang="ar-SA" smtClean="0"/>
              <a:t>29/04/1446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1D465-4954-481E-9485-02F62D6D02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58256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42E3-BB74-4706-8998-E1FC06EBE8BD}" type="datetimeFigureOut">
              <a:rPr lang="ar-SA" smtClean="0"/>
              <a:t>29/04/1446</a:t>
            </a:fld>
            <a:endParaRPr lang="ar-SA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1D465-4954-481E-9485-02F62D6D02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68660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42E3-BB74-4706-8998-E1FC06EBE8BD}" type="datetimeFigureOut">
              <a:rPr lang="ar-SA" smtClean="0"/>
              <a:t>29/04/1446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1D465-4954-481E-9485-02F62D6D02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05984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42E3-BB74-4706-8998-E1FC06EBE8BD}" type="datetimeFigureOut">
              <a:rPr lang="ar-SA" smtClean="0"/>
              <a:t>29/04/1446</a:t>
            </a:fld>
            <a:endParaRPr lang="ar-SA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1D465-4954-481E-9485-02F62D6D02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62877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42E3-BB74-4706-8998-E1FC06EBE8BD}" type="datetimeFigureOut">
              <a:rPr lang="ar-SA" smtClean="0"/>
              <a:t>29/04/1446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1D465-4954-481E-9485-02F62D6D02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11780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42E3-BB74-4706-8998-E1FC06EBE8BD}" type="datetimeFigureOut">
              <a:rPr lang="ar-SA" smtClean="0"/>
              <a:t>29/04/1446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1D465-4954-481E-9485-02F62D6D02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1923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42E3-BB74-4706-8998-E1FC06EBE8BD}" type="datetimeFigureOut">
              <a:rPr lang="ar-SA" smtClean="0"/>
              <a:t>29/04/1446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1D465-4954-481E-9485-02F62D6D02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32287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142E3-BB74-4706-8998-E1FC06EBE8BD}" type="datetimeFigureOut">
              <a:rPr lang="ar-SA" smtClean="0"/>
              <a:t>29/04/1446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1D465-4954-481E-9485-02F62D6D02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05121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142E3-BB74-4706-8998-E1FC06EBE8BD}" type="datetimeFigureOut">
              <a:rPr lang="ar-SA" smtClean="0"/>
              <a:t>29/04/1446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1D465-4954-481E-9485-02F62D6D02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078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3"/>
          <p:cNvSpPr/>
          <p:nvPr/>
        </p:nvSpPr>
        <p:spPr>
          <a:xfrm>
            <a:off x="-381000" y="-721764"/>
            <a:ext cx="10039109" cy="815291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4000" dirty="0"/>
          </a:p>
        </p:txBody>
      </p:sp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2438400" y="152400"/>
            <a:ext cx="4191000" cy="91440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ar-SA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جامعة</a:t>
            </a:r>
            <a:r>
              <a:rPr lang="ar-SA" sz="3600" dirty="0" smtClean="0">
                <a:solidFill>
                  <a:schemeClr val="bg1"/>
                </a:solidFill>
              </a:rPr>
              <a:t> </a:t>
            </a:r>
            <a:r>
              <a:rPr lang="ar-SA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النيلين</a:t>
            </a:r>
            <a:endParaRPr lang="ar-SA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905000" y="1066800"/>
            <a:ext cx="5410200" cy="762000"/>
          </a:xfrm>
          <a:noFill/>
        </p:spPr>
        <p:txBody>
          <a:bodyPr>
            <a:noAutofit/>
          </a:bodyPr>
          <a:lstStyle/>
          <a:p>
            <a:r>
              <a:rPr lang="ar-SA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مدير درجات الطلاب</a:t>
            </a:r>
            <a:endParaRPr lang="ar-SA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مربع نص 6"/>
          <p:cNvSpPr txBox="1"/>
          <p:nvPr/>
        </p:nvSpPr>
        <p:spPr>
          <a:xfrm>
            <a:off x="0" y="2057400"/>
            <a:ext cx="52197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r>
              <a:rPr lang="ar-S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عبدالعزيز سيف الدين حسن على</a:t>
            </a:r>
            <a:endParaRPr lang="ar-S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" name="مربع نص 8"/>
          <p:cNvSpPr txBox="1"/>
          <p:nvPr/>
        </p:nvSpPr>
        <p:spPr>
          <a:xfrm>
            <a:off x="847364" y="2769920"/>
            <a:ext cx="4370407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عمار ياسر عبيد عباس</a:t>
            </a:r>
            <a:endParaRPr lang="ar-S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5" name="مربع نص 14"/>
          <p:cNvSpPr txBox="1"/>
          <p:nvPr/>
        </p:nvSpPr>
        <p:spPr>
          <a:xfrm>
            <a:off x="5410200" y="1995844"/>
            <a:ext cx="228600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فريق العمل :</a:t>
            </a:r>
            <a:endParaRPr lang="ar-SA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مربع نص 15"/>
          <p:cNvSpPr txBox="1"/>
          <p:nvPr/>
        </p:nvSpPr>
        <p:spPr>
          <a:xfrm>
            <a:off x="5065371" y="3733800"/>
            <a:ext cx="2630829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المادة : </a:t>
            </a:r>
            <a:endParaRPr lang="ar-SA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مربع نص 16"/>
          <p:cNvSpPr txBox="1"/>
          <p:nvPr/>
        </p:nvSpPr>
        <p:spPr>
          <a:xfrm>
            <a:off x="1676400" y="3795354"/>
            <a:ext cx="44196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برمجة ومدخل لبنيات البيانات</a:t>
            </a:r>
            <a:endParaRPr lang="ar-SA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مربع نص 17"/>
          <p:cNvSpPr txBox="1"/>
          <p:nvPr/>
        </p:nvSpPr>
        <p:spPr>
          <a:xfrm>
            <a:off x="5295900" y="5029199"/>
            <a:ext cx="25146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أستاذ المادة :</a:t>
            </a:r>
            <a:endParaRPr lang="ar-SA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مربع نص 18"/>
          <p:cNvSpPr txBox="1"/>
          <p:nvPr/>
        </p:nvSpPr>
        <p:spPr>
          <a:xfrm>
            <a:off x="807335" y="4967644"/>
            <a:ext cx="495300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40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م.محمدالفاتح</a:t>
            </a:r>
            <a:r>
              <a:rPr lang="ar-SA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سعيد</a:t>
            </a:r>
            <a:endParaRPr lang="ar-SA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0" name="مربع نص 19"/>
          <p:cNvSpPr txBox="1"/>
          <p:nvPr/>
        </p:nvSpPr>
        <p:spPr>
          <a:xfrm>
            <a:off x="1060048" y="6009190"/>
            <a:ext cx="663615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القسم : هندسة حاسوب – الدفعة 27</a:t>
            </a:r>
            <a:endParaRPr lang="ar-SA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صورة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-301425"/>
            <a:ext cx="2057400" cy="2057400"/>
          </a:xfrm>
          <a:prstGeom prst="rect">
            <a:avLst/>
          </a:prstGeom>
        </p:spPr>
      </p:pic>
      <p:pic>
        <p:nvPicPr>
          <p:cNvPr id="14" name="صورة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1336" y="-291265"/>
            <a:ext cx="20574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11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/>
          <p:cNvSpPr/>
          <p:nvPr/>
        </p:nvSpPr>
        <p:spPr>
          <a:xfrm>
            <a:off x="-614680" y="0"/>
            <a:ext cx="10515600" cy="69342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4" name="مربع نص 3"/>
          <p:cNvSpPr txBox="1"/>
          <p:nvPr/>
        </p:nvSpPr>
        <p:spPr>
          <a:xfrm>
            <a:off x="3012440" y="381000"/>
            <a:ext cx="6096000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ملخص العرض </a:t>
            </a:r>
            <a:r>
              <a:rPr lang="ar-SA" sz="54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التقديمي</a:t>
            </a:r>
            <a:r>
              <a:rPr lang="ar-SA" sz="5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</a:t>
            </a:r>
            <a:endParaRPr lang="ar-SA" sz="5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ar-SA" sz="5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مربع نص 4"/>
          <p:cNvSpPr txBox="1"/>
          <p:nvPr/>
        </p:nvSpPr>
        <p:spPr>
          <a:xfrm>
            <a:off x="2981960" y="1981200"/>
            <a:ext cx="6156960" cy="3170099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marL="285750" indent="-285750">
              <a:buFontTx/>
              <a:buChar char="-"/>
            </a:pPr>
            <a:r>
              <a:rPr lang="ar-SA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ماذا يفعل البرنامج</a:t>
            </a:r>
          </a:p>
          <a:p>
            <a:pPr marL="285750" indent="-285750">
              <a:buFontTx/>
              <a:buChar char="-"/>
            </a:pPr>
            <a:endParaRPr lang="ar-SA" sz="40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Tx/>
              <a:buChar char="-"/>
            </a:pPr>
            <a:r>
              <a:rPr lang="ar-SA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شرح البرنامج</a:t>
            </a:r>
          </a:p>
          <a:p>
            <a:pPr marL="285750" indent="-285750">
              <a:buFontTx/>
              <a:buChar char="-"/>
            </a:pPr>
            <a:endParaRPr lang="ar-SA" sz="40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Tx/>
              <a:buChar char="-"/>
            </a:pPr>
            <a:r>
              <a:rPr lang="ar-SA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تشغيل البرنامج</a:t>
            </a:r>
            <a:endParaRPr lang="ar-SA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66533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/>
          <p:cNvSpPr/>
          <p:nvPr/>
        </p:nvSpPr>
        <p:spPr>
          <a:xfrm>
            <a:off x="-609600" y="-76200"/>
            <a:ext cx="10515600" cy="69342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2" name="مربع نص 1"/>
          <p:cNvSpPr txBox="1"/>
          <p:nvPr/>
        </p:nvSpPr>
        <p:spPr>
          <a:xfrm>
            <a:off x="3251200" y="533400"/>
            <a:ext cx="5892800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60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ماذ</a:t>
            </a:r>
            <a:r>
              <a:rPr lang="ar-SA" sz="6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يفعل البرنامج :</a:t>
            </a:r>
            <a:endParaRPr lang="ar-SA" sz="6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مربع نص 3"/>
          <p:cNvSpPr txBox="1"/>
          <p:nvPr/>
        </p:nvSpPr>
        <p:spPr>
          <a:xfrm>
            <a:off x="533400" y="1991360"/>
            <a:ext cx="8610600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عند فتح البرنامج يطلب البرنامج من المستخدم اختيار مسار معين من خيارين اثنين :</a:t>
            </a:r>
            <a:endParaRPr lang="ar-SA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مربع نص 4"/>
          <p:cNvSpPr txBox="1"/>
          <p:nvPr/>
        </p:nvSpPr>
        <p:spPr>
          <a:xfrm>
            <a:off x="254000" y="3581400"/>
            <a:ext cx="8839200" cy="304698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المسار الأول : حساب معدل الطالب في سبعة مواد بإدخال درجة كل مادة.</a:t>
            </a:r>
          </a:p>
          <a:p>
            <a:endParaRPr lang="ar-S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ar-S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المسار الثاني : إدخال اسم الطالب والاطلاع على درجاته، بعد إرفاق اسم ملف </a:t>
            </a:r>
            <a:r>
              <a:rPr lang="en-GB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</a:t>
            </a:r>
            <a:r>
              <a:rPr lang="ar-S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بصيغة </a:t>
            </a:r>
            <a:r>
              <a:rPr lang="ar-SA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csv</a:t>
            </a:r>
            <a:r>
              <a:rPr lang="en-GB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S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في المكان المخصص له في الكود</a:t>
            </a:r>
            <a:r>
              <a:rPr 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ar-S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0870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/>
          <p:cNvSpPr/>
          <p:nvPr/>
        </p:nvSpPr>
        <p:spPr>
          <a:xfrm>
            <a:off x="-568960" y="0"/>
            <a:ext cx="10515600" cy="69342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" name="مربع نص 1"/>
          <p:cNvSpPr txBox="1"/>
          <p:nvPr/>
        </p:nvSpPr>
        <p:spPr>
          <a:xfrm>
            <a:off x="2743200" y="381000"/>
            <a:ext cx="67818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شرح البرنامج :</a:t>
            </a:r>
            <a:endParaRPr lang="ar-SA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صورة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0" y="1514271"/>
            <a:ext cx="5954903" cy="4687695"/>
          </a:xfrm>
          <a:prstGeom prst="rect">
            <a:avLst/>
          </a:prstGeom>
        </p:spPr>
      </p:pic>
      <p:sp>
        <p:nvSpPr>
          <p:cNvPr id="6" name="مربع نص 5"/>
          <p:cNvSpPr txBox="1"/>
          <p:nvPr/>
        </p:nvSpPr>
        <p:spPr>
          <a:xfrm>
            <a:off x="4876800" y="1524000"/>
            <a:ext cx="4648200" cy="4816703"/>
          </a:xfrm>
          <a:prstGeom prst="rect">
            <a:avLst/>
          </a:prstGeom>
          <a:noFill/>
        </p:spPr>
        <p:txBody>
          <a:bodyPr wrap="square" rtlCol="1" anchor="b">
            <a:spAutoFit/>
          </a:bodyPr>
          <a:lstStyle/>
          <a:p>
            <a:pPr>
              <a:spcBef>
                <a:spcPts val="100"/>
              </a:spcBef>
              <a:spcAft>
                <a:spcPts val="1000"/>
              </a:spcAft>
            </a:pPr>
            <a:r>
              <a:rPr lang="ar-SA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الجزء الأول من الكود</a:t>
            </a:r>
          </a:p>
          <a:p>
            <a:pPr>
              <a:spcBef>
                <a:spcPts val="100"/>
              </a:spcBef>
              <a:spcAft>
                <a:spcPts val="1000"/>
              </a:spcAft>
            </a:pPr>
            <a:r>
              <a:rPr lang="ar-SA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خاص بالمكتبات :</a:t>
            </a:r>
          </a:p>
          <a:p>
            <a:pPr>
              <a:spcBef>
                <a:spcPts val="100"/>
              </a:spcBef>
              <a:spcAft>
                <a:spcPts val="1000"/>
              </a:spcAft>
            </a:pPr>
            <a:r>
              <a:rPr lang="ar-SA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الإدخال والإخراج</a:t>
            </a:r>
          </a:p>
          <a:p>
            <a:pPr>
              <a:spcBef>
                <a:spcPts val="100"/>
              </a:spcBef>
              <a:spcAft>
                <a:spcPts val="1000"/>
              </a:spcAft>
            </a:pPr>
            <a:r>
              <a:rPr lang="ar-SA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المكتبة القياسية </a:t>
            </a:r>
          </a:p>
          <a:p>
            <a:pPr>
              <a:spcBef>
                <a:spcPts val="100"/>
              </a:spcBef>
              <a:spcAft>
                <a:spcPts val="1000"/>
              </a:spcAft>
            </a:pPr>
            <a:r>
              <a:rPr lang="ar-SA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مكتبة النصوص</a:t>
            </a:r>
          </a:p>
          <a:p>
            <a:pPr>
              <a:spcBef>
                <a:spcPts val="100"/>
              </a:spcBef>
              <a:spcAft>
                <a:spcPts val="1000"/>
              </a:spcAft>
            </a:pPr>
            <a:r>
              <a:rPr lang="ar-SA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التي تساعدنا في عمليات</a:t>
            </a:r>
          </a:p>
          <a:p>
            <a:pPr>
              <a:spcBef>
                <a:spcPts val="100"/>
              </a:spcBef>
              <a:spcAft>
                <a:spcPts val="1000"/>
              </a:spcAft>
            </a:pPr>
            <a:r>
              <a:rPr lang="ar-SA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داخل الكود.</a:t>
            </a:r>
            <a:endParaRPr lang="ar-SA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0870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/>
          <p:cNvSpPr/>
          <p:nvPr/>
        </p:nvSpPr>
        <p:spPr>
          <a:xfrm>
            <a:off x="-568960" y="0"/>
            <a:ext cx="10515600" cy="69342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>
              <a:solidFill>
                <a:prstClr val="white"/>
              </a:solidFill>
            </a:endParaRPr>
          </a:p>
        </p:txBody>
      </p:sp>
      <p:pic>
        <p:nvPicPr>
          <p:cNvPr id="5" name="صورة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760" y="1981200"/>
            <a:ext cx="5212080" cy="4102945"/>
          </a:xfrm>
          <a:prstGeom prst="rect">
            <a:avLst/>
          </a:prstGeom>
        </p:spPr>
      </p:pic>
      <p:sp>
        <p:nvSpPr>
          <p:cNvPr id="6" name="مربع نص 5"/>
          <p:cNvSpPr txBox="1"/>
          <p:nvPr/>
        </p:nvSpPr>
        <p:spPr>
          <a:xfrm>
            <a:off x="4953000" y="1752600"/>
            <a:ext cx="4648200" cy="4869282"/>
          </a:xfrm>
          <a:prstGeom prst="rect">
            <a:avLst/>
          </a:prstGeom>
          <a:noFill/>
        </p:spPr>
        <p:txBody>
          <a:bodyPr wrap="square" rtlCol="1" anchor="b">
            <a:spAutoFit/>
          </a:bodyPr>
          <a:lstStyle/>
          <a:p>
            <a:pPr>
              <a:lnSpc>
                <a:spcPts val="6300"/>
              </a:lnSpc>
              <a:spcBef>
                <a:spcPts val="100"/>
              </a:spcBef>
              <a:spcAft>
                <a:spcPts val="1000"/>
              </a:spcAft>
            </a:pPr>
            <a:r>
              <a:rPr lang="ar-SA" sz="40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دالة رئيسية فيها رسالة تطلب من المستخدم </a:t>
            </a:r>
            <a:r>
              <a:rPr lang="ar-SA" sz="4000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الإختيار</a:t>
            </a:r>
            <a:r>
              <a:rPr lang="ar-SA" sz="40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الرقم (1) في حالة يريد الآلة الحاسبة، والرقم (2) في حالة يريد استخراج اسم الطالب من ملف </a:t>
            </a:r>
            <a:r>
              <a:rPr lang="en-GB" sz="40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</a:t>
            </a:r>
            <a:r>
              <a:rPr lang="ar-SA" sz="40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7" name="مربع نص 6"/>
          <p:cNvSpPr txBox="1"/>
          <p:nvPr/>
        </p:nvSpPr>
        <p:spPr>
          <a:xfrm>
            <a:off x="1981200" y="609600"/>
            <a:ext cx="748284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الدالة الرئيسية (</a:t>
            </a:r>
            <a:r>
              <a:rPr lang="en-GB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:(</a:t>
            </a:r>
            <a:r>
              <a:rPr lang="en-GB" sz="48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GB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main</a:t>
            </a:r>
            <a:endParaRPr lang="ar-SA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56539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/>
          <p:cNvSpPr/>
          <p:nvPr/>
        </p:nvSpPr>
        <p:spPr>
          <a:xfrm>
            <a:off x="-568960" y="0"/>
            <a:ext cx="10515600" cy="69342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>
              <a:solidFill>
                <a:prstClr val="white"/>
              </a:solidFill>
            </a:endParaRPr>
          </a:p>
        </p:txBody>
      </p:sp>
      <p:sp>
        <p:nvSpPr>
          <p:cNvPr id="6" name="مربع نص 5"/>
          <p:cNvSpPr txBox="1"/>
          <p:nvPr/>
        </p:nvSpPr>
        <p:spPr>
          <a:xfrm>
            <a:off x="-1823720" y="1605280"/>
            <a:ext cx="11363960" cy="3477875"/>
          </a:xfrm>
          <a:prstGeom prst="rect">
            <a:avLst/>
          </a:prstGeom>
          <a:noFill/>
        </p:spPr>
        <p:txBody>
          <a:bodyPr wrap="square" rtlCol="1" anchor="b">
            <a:spAutoFit/>
          </a:bodyPr>
          <a:lstStyle/>
          <a:p>
            <a:pPr>
              <a:lnSpc>
                <a:spcPts val="6300"/>
              </a:lnSpc>
              <a:spcBef>
                <a:spcPts val="200"/>
              </a:spcBef>
              <a:spcAft>
                <a:spcPts val="200"/>
              </a:spcAft>
            </a:pPr>
            <a:r>
              <a:rPr lang="ar-SA" sz="30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 استخدمنا دالة عددية سميناها </a:t>
            </a:r>
            <a:r>
              <a:rPr lang="en-GB" sz="30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choice</a:t>
            </a:r>
          </a:p>
          <a:p>
            <a:pPr>
              <a:lnSpc>
                <a:spcPts val="6300"/>
              </a:lnSpc>
              <a:spcBef>
                <a:spcPts val="200"/>
              </a:spcBef>
              <a:spcAft>
                <a:spcPts val="200"/>
              </a:spcAft>
            </a:pPr>
            <a:r>
              <a:rPr lang="ar-SA" sz="30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لتحفظ لنا القيمة العددية التي يدخلها المستخدم.</a:t>
            </a:r>
          </a:p>
          <a:p>
            <a:pPr>
              <a:lnSpc>
                <a:spcPts val="63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30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</a:t>
            </a:r>
            <a:r>
              <a:rPr lang="en-GB" sz="3000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r>
              <a:rPr lang="en-GB" sz="30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-2 </a:t>
            </a:r>
            <a:r>
              <a:rPr lang="ar-SA" sz="30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تمثل المدخل بعد الرسالة.</a:t>
            </a:r>
          </a:p>
          <a:p>
            <a:pPr>
              <a:lnSpc>
                <a:spcPts val="63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30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d% -3</a:t>
            </a:r>
            <a:r>
              <a:rPr lang="ar-SA" sz="30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تمثل  نوع المدخل (عدد صحيح).</a:t>
            </a:r>
          </a:p>
        </p:txBody>
      </p:sp>
      <p:pic>
        <p:nvPicPr>
          <p:cNvPr id="5" name="صورة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000" y="1649073"/>
            <a:ext cx="4244340" cy="4599327"/>
          </a:xfrm>
          <a:prstGeom prst="rect">
            <a:avLst/>
          </a:prstGeom>
        </p:spPr>
      </p:pic>
      <p:sp>
        <p:nvSpPr>
          <p:cNvPr id="7" name="مربع نص 6"/>
          <p:cNvSpPr txBox="1"/>
          <p:nvPr/>
        </p:nvSpPr>
        <p:spPr>
          <a:xfrm>
            <a:off x="2057400" y="609599"/>
            <a:ext cx="748284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أ</a:t>
            </a:r>
            <a:r>
              <a:rPr lang="ar-SA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هم ما في الدالة الرئيسية :</a:t>
            </a:r>
            <a:endParaRPr lang="ar-SA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95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/>
          <p:cNvSpPr/>
          <p:nvPr/>
        </p:nvSpPr>
        <p:spPr>
          <a:xfrm>
            <a:off x="-568960" y="0"/>
            <a:ext cx="10515600" cy="69342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>
              <a:solidFill>
                <a:prstClr val="white"/>
              </a:solidFill>
            </a:endParaRPr>
          </a:p>
        </p:txBody>
      </p:sp>
      <p:sp>
        <p:nvSpPr>
          <p:cNvPr id="6" name="مربع نص 5"/>
          <p:cNvSpPr txBox="1"/>
          <p:nvPr/>
        </p:nvSpPr>
        <p:spPr>
          <a:xfrm>
            <a:off x="-1818640" y="1464069"/>
            <a:ext cx="11363960" cy="5196294"/>
          </a:xfrm>
          <a:prstGeom prst="rect">
            <a:avLst/>
          </a:prstGeom>
          <a:noFill/>
        </p:spPr>
        <p:txBody>
          <a:bodyPr wrap="square" rtlCol="1" anchor="b">
            <a:spAutoFit/>
          </a:bodyPr>
          <a:lstStyle/>
          <a:p>
            <a:pPr>
              <a:lnSpc>
                <a:spcPts val="6300"/>
              </a:lnSpc>
              <a:spcBef>
                <a:spcPts val="200"/>
              </a:spcBef>
              <a:spcAft>
                <a:spcPts val="200"/>
              </a:spcAft>
            </a:pPr>
            <a:r>
              <a:rPr lang="ar-SA" sz="30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 &amp; تعني أن ما بعدها هو الذي </a:t>
            </a:r>
          </a:p>
          <a:p>
            <a:pPr>
              <a:lnSpc>
                <a:spcPts val="6300"/>
              </a:lnSpc>
              <a:spcBef>
                <a:spcPts val="200"/>
              </a:spcBef>
              <a:spcAft>
                <a:spcPts val="200"/>
              </a:spcAft>
            </a:pPr>
            <a:r>
              <a:rPr lang="ar-SA" sz="30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نخزن فيه العدد الصحيح.</a:t>
            </a:r>
          </a:p>
          <a:p>
            <a:pPr>
              <a:lnSpc>
                <a:spcPts val="6300"/>
              </a:lnSpc>
              <a:spcBef>
                <a:spcPts val="200"/>
              </a:spcBef>
              <a:spcAft>
                <a:spcPts val="200"/>
              </a:spcAft>
            </a:pPr>
            <a:r>
              <a:rPr lang="ar-SA" sz="30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5- عند استخدام </a:t>
            </a:r>
            <a:r>
              <a:rPr lang="en-GB" sz="30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en-GB" sz="3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SA" sz="30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علينا مراعاة </a:t>
            </a:r>
          </a:p>
          <a:p>
            <a:pPr>
              <a:lnSpc>
                <a:spcPts val="6300"/>
              </a:lnSpc>
              <a:spcBef>
                <a:spcPts val="200"/>
              </a:spcBef>
              <a:spcAft>
                <a:spcPts val="200"/>
              </a:spcAft>
            </a:pPr>
            <a:r>
              <a:rPr lang="ar-SA" sz="30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الأقواس (للشرط) والأقواس {لجواب الشرط}.</a:t>
            </a:r>
          </a:p>
          <a:p>
            <a:pPr>
              <a:lnSpc>
                <a:spcPts val="6300"/>
              </a:lnSpc>
              <a:spcBef>
                <a:spcPts val="200"/>
              </a:spcBef>
              <a:spcAft>
                <a:spcPts val="200"/>
              </a:spcAft>
            </a:pPr>
            <a:r>
              <a:rPr lang="ar-SA" sz="30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6- يجب مراعاة كتابة فاصلة منقوطة </a:t>
            </a:r>
          </a:p>
          <a:p>
            <a:pPr>
              <a:lnSpc>
                <a:spcPts val="6300"/>
              </a:lnSpc>
              <a:spcBef>
                <a:spcPts val="200"/>
              </a:spcBef>
              <a:spcAft>
                <a:spcPts val="200"/>
              </a:spcAft>
            </a:pPr>
            <a:r>
              <a:rPr lang="ar-SA" sz="30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نهاية كل سطر.</a:t>
            </a:r>
            <a:endParaRPr lang="en-GB" sz="3000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صورة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000" y="1649073"/>
            <a:ext cx="4244340" cy="4599327"/>
          </a:xfrm>
          <a:prstGeom prst="rect">
            <a:avLst/>
          </a:prstGeom>
        </p:spPr>
      </p:pic>
      <p:sp>
        <p:nvSpPr>
          <p:cNvPr id="7" name="مربع نص 6"/>
          <p:cNvSpPr txBox="1"/>
          <p:nvPr/>
        </p:nvSpPr>
        <p:spPr>
          <a:xfrm>
            <a:off x="2057400" y="609599"/>
            <a:ext cx="748284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أ</a:t>
            </a:r>
            <a:r>
              <a:rPr lang="ar-SA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هم ما في الدالة الرئيسية :</a:t>
            </a:r>
            <a:endParaRPr lang="ar-SA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6658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/>
          <p:cNvSpPr/>
          <p:nvPr/>
        </p:nvSpPr>
        <p:spPr>
          <a:xfrm>
            <a:off x="-762000" y="-228600"/>
            <a:ext cx="10820400" cy="73152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>
              <a:solidFill>
                <a:prstClr val="white"/>
              </a:solidFill>
            </a:endParaRPr>
          </a:p>
        </p:txBody>
      </p:sp>
      <p:sp>
        <p:nvSpPr>
          <p:cNvPr id="6" name="مربع نص 5"/>
          <p:cNvSpPr txBox="1"/>
          <p:nvPr/>
        </p:nvSpPr>
        <p:spPr>
          <a:xfrm>
            <a:off x="-160020" y="1066800"/>
            <a:ext cx="9268460" cy="1611339"/>
          </a:xfrm>
          <a:prstGeom prst="rect">
            <a:avLst/>
          </a:prstGeom>
          <a:noFill/>
        </p:spPr>
        <p:txBody>
          <a:bodyPr wrap="square" rtlCol="1" anchor="b">
            <a:spAutoFit/>
          </a:bodyPr>
          <a:lstStyle/>
          <a:p>
            <a:pPr>
              <a:lnSpc>
                <a:spcPts val="6300"/>
              </a:lnSpc>
              <a:spcBef>
                <a:spcPts val="600"/>
              </a:spcBef>
              <a:spcAft>
                <a:spcPts val="200"/>
              </a:spcAft>
            </a:pPr>
            <a:r>
              <a:rPr lang="ar-SA" sz="32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ملحوظة : إذا كان الكود صحيح؛ سيرجع المترجم رقم صفر لذلك لا داعي لكتابة (</a:t>
            </a:r>
            <a:r>
              <a:rPr lang="en-GB" sz="32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Rerturn</a:t>
            </a:r>
            <a:r>
              <a:rPr lang="en-GB" sz="32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0;</a:t>
            </a:r>
            <a:r>
              <a:rPr lang="ar-SA" sz="32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</a:t>
            </a:r>
          </a:p>
        </p:txBody>
      </p:sp>
      <p:pic>
        <p:nvPicPr>
          <p:cNvPr id="5" name="صورة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834640"/>
            <a:ext cx="7796380" cy="4038600"/>
          </a:xfrm>
          <a:prstGeom prst="rect">
            <a:avLst/>
          </a:prstGeom>
        </p:spPr>
      </p:pic>
      <p:sp>
        <p:nvSpPr>
          <p:cNvPr id="7" name="مربع نص 6"/>
          <p:cNvSpPr txBox="1"/>
          <p:nvPr/>
        </p:nvSpPr>
        <p:spPr>
          <a:xfrm>
            <a:off x="1661160" y="240883"/>
            <a:ext cx="748284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4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أ</a:t>
            </a:r>
            <a:r>
              <a:rPr lang="ar-SA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هم ما في الدالة الرئيسية :</a:t>
            </a:r>
            <a:endParaRPr lang="ar-SA" sz="48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2837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/>
          <p:cNvSpPr/>
          <p:nvPr/>
        </p:nvSpPr>
        <p:spPr>
          <a:xfrm>
            <a:off x="-838200" y="-228600"/>
            <a:ext cx="10820400" cy="73152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lvl="0">
              <a:lnSpc>
                <a:spcPts val="3600"/>
              </a:lnSpc>
              <a:spcBef>
                <a:spcPts val="24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مربع نص 6"/>
          <p:cNvSpPr txBox="1"/>
          <p:nvPr/>
        </p:nvSpPr>
        <p:spPr>
          <a:xfrm>
            <a:off x="1371600" y="304800"/>
            <a:ext cx="83058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العمليات داخل الدالة الثانية (</a:t>
            </a:r>
            <a:r>
              <a:rPr lang="en-GB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(</a:t>
            </a:r>
            <a:r>
              <a:rPr lang="en-GB" sz="4800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GB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4800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</a:t>
            </a:r>
            <a:endParaRPr lang="ar-SA" sz="48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3400" y="1600200"/>
            <a:ext cx="5935979" cy="4876800"/>
          </a:xfrm>
          <a:prstGeom prst="rect">
            <a:avLst/>
          </a:prstGeom>
        </p:spPr>
      </p:pic>
      <p:sp>
        <p:nvSpPr>
          <p:cNvPr id="10" name="مربع نص 9"/>
          <p:cNvSpPr txBox="1"/>
          <p:nvPr/>
        </p:nvSpPr>
        <p:spPr>
          <a:xfrm>
            <a:off x="5524500" y="1295400"/>
            <a:ext cx="4114800" cy="532453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 إدراج متغيرين (عشري ذو فاصلة) لحفظ قيمة مجموع السبع مواد وحفظ المعدل بعد قسمة الدرجة على عدد المواد وهو 7.</a:t>
            </a:r>
          </a:p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 </a:t>
            </a:r>
            <a:r>
              <a:rPr lang="ar-S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</a:t>
            </a:r>
            <a:r>
              <a:rPr lang="ar-SA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ستخدام </a:t>
            </a:r>
            <a:r>
              <a:rPr lang="en-US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SA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لطباعة رسالة تطلب إدخال درجات الطلاب ولتنسيق البرنامج.</a:t>
            </a:r>
          </a:p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 استخدام 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r>
              <a:rPr lang="ar-SA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لإدخال الدرجات على صورة </a:t>
            </a:r>
            <a:r>
              <a:rPr lang="en-GB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float</a:t>
            </a:r>
            <a:r>
              <a:rPr lang="ar-SA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لتخزينها في متغيرات السطر 28. </a:t>
            </a:r>
            <a:endParaRPr lang="ar-SA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" name="رابط كسهم مستقيم 11"/>
          <p:cNvCxnSpPr/>
          <p:nvPr/>
        </p:nvCxnSpPr>
        <p:spPr>
          <a:xfrm flipH="1">
            <a:off x="3048000" y="2213610"/>
            <a:ext cx="1219200" cy="571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72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/>
          <p:cNvSpPr/>
          <p:nvPr/>
        </p:nvSpPr>
        <p:spPr>
          <a:xfrm>
            <a:off x="-838200" y="-228600"/>
            <a:ext cx="10820400" cy="73152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lnSpc>
                <a:spcPts val="3600"/>
              </a:lnSpc>
              <a:spcBef>
                <a:spcPts val="24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مربع نص 6"/>
          <p:cNvSpPr txBox="1"/>
          <p:nvPr/>
        </p:nvSpPr>
        <p:spPr>
          <a:xfrm>
            <a:off x="0" y="304800"/>
            <a:ext cx="96774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اهم العمليات داخل الدالة الثانية (</a:t>
            </a:r>
            <a:r>
              <a:rPr lang="en-GB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(</a:t>
            </a:r>
            <a:r>
              <a:rPr lang="en-GB" sz="4800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GB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4800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</a:t>
            </a:r>
            <a:endParaRPr lang="ar-SA" sz="48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مستطيل 5"/>
          <p:cNvSpPr/>
          <p:nvPr/>
        </p:nvSpPr>
        <p:spPr>
          <a:xfrm>
            <a:off x="5638800" y="5181600"/>
            <a:ext cx="4000500" cy="1295400"/>
          </a:xfrm>
          <a:prstGeom prst="rect">
            <a:avLst/>
          </a:prstGeom>
          <a:solidFill>
            <a:schemeClr val="accent2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0" name="مربع نص 9"/>
          <p:cNvSpPr txBox="1"/>
          <p:nvPr/>
        </p:nvSpPr>
        <p:spPr>
          <a:xfrm>
            <a:off x="5524500" y="1295400"/>
            <a:ext cx="4114800" cy="609397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 لمجموع المواد نستخدم المتغير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sum 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لحفظ مجموع المواد فيه.</a:t>
            </a:r>
          </a:p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5- المتغير 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average 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لحفظ ناتج قسمة المواد على عددها وهو ما يعرف بالنسبة المئوية.</a:t>
            </a:r>
          </a:p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6- عند طباعة النسبة نكتب : ثلاث علامات %. لماذا؟ الجواب واحدة لنوع المدخل - واحدة تشير إلى الأعداد بعد الفاصلة – واحدة ليكتب أمام العدد العلامة %.</a:t>
            </a:r>
          </a:p>
          <a:p>
            <a:pPr>
              <a:lnSpc>
                <a:spcPts val="3600"/>
              </a:lnSpc>
              <a:spcBef>
                <a:spcPts val="2400"/>
              </a:spcBef>
            </a:pPr>
            <a:endParaRPr lang="ar-SA" sz="2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3400" y="1366867"/>
            <a:ext cx="5948528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5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/>
          <p:cNvSpPr/>
          <p:nvPr/>
        </p:nvSpPr>
        <p:spPr>
          <a:xfrm>
            <a:off x="-838200" y="-228600"/>
            <a:ext cx="10820400" cy="73152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lnSpc>
                <a:spcPts val="3600"/>
              </a:lnSpc>
              <a:spcBef>
                <a:spcPts val="24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مربع نص 6"/>
          <p:cNvSpPr txBox="1"/>
          <p:nvPr/>
        </p:nvSpPr>
        <p:spPr>
          <a:xfrm>
            <a:off x="838200" y="304800"/>
            <a:ext cx="88392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اهم العمليات داخل الدالة الثانية (</a:t>
            </a:r>
            <a:r>
              <a:rPr lang="en-GB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(</a:t>
            </a:r>
            <a:r>
              <a:rPr lang="en-GB" sz="4800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GB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4800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</a:t>
            </a:r>
            <a:endParaRPr lang="ar-SA" sz="48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مربع نص 9"/>
          <p:cNvSpPr txBox="1"/>
          <p:nvPr/>
        </p:nvSpPr>
        <p:spPr>
          <a:xfrm>
            <a:off x="5524500" y="1295400"/>
            <a:ext cx="4114800" cy="486287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7- (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– else if - else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: تم استخدامها مع المقارنات لتحديد تقييم الطالب الذي تم حساب درجته في البداية.</a:t>
            </a:r>
          </a:p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8- تم </a:t>
            </a:r>
            <a:r>
              <a:rPr lang="ar-SA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إستخدام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&amp;&amp; التي تعادل ال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بلغة 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.C</a:t>
            </a:r>
          </a:p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-9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تم استخدام 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لتنسيق الأسطر مع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\n </a:t>
            </a:r>
            <a:r>
              <a:rPr lang="ar-SA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للإنتقال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للسطر الجديد.</a:t>
            </a:r>
            <a:endParaRPr lang="en-GB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3400" y="1366867"/>
            <a:ext cx="5948528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016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/>
          <p:cNvSpPr/>
          <p:nvPr/>
        </p:nvSpPr>
        <p:spPr>
          <a:xfrm>
            <a:off x="-838200" y="-228600"/>
            <a:ext cx="10820400" cy="73152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lnSpc>
                <a:spcPts val="3600"/>
              </a:lnSpc>
              <a:spcBef>
                <a:spcPts val="24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مربع نص 6"/>
          <p:cNvSpPr txBox="1"/>
          <p:nvPr/>
        </p:nvSpPr>
        <p:spPr>
          <a:xfrm>
            <a:off x="838200" y="304800"/>
            <a:ext cx="88392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اهم العمليات في الدالة الثالثة (</a:t>
            </a:r>
            <a:r>
              <a:rPr lang="en-GB" sz="4800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GB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4800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csvfile</a:t>
            </a:r>
            <a:r>
              <a:rPr lang="ar-SA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:</a:t>
            </a:r>
            <a:endParaRPr lang="ar-SA" sz="48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مربع نص 9"/>
          <p:cNvSpPr txBox="1"/>
          <p:nvPr/>
        </p:nvSpPr>
        <p:spPr>
          <a:xfrm>
            <a:off x="5524500" y="1295400"/>
            <a:ext cx="4114800" cy="532453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 تم إضافة مصفوفة أحرف لتخزين ملف درجات الطلاب من برنامج 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Excel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بصيغة </a:t>
            </a:r>
            <a:r>
              <a:rPr lang="en-GB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csv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-2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أضفنا نوع خاص من البيانات في اللغة وهو 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FILE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للتعامل مع الملفات بالإضافة لمؤشر أو عنوان في الذاكرة (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</a:t>
            </a:r>
          </a:p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 استخدمنا دالة جاهزة </a:t>
            </a:r>
            <a:r>
              <a:rPr lang="en-GB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fopen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تحتوي على اسم الملف وطريقة الفتح 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”r”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تعني 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</a:t>
            </a: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3400" y="1514074"/>
            <a:ext cx="5791200" cy="534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569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/>
          <p:cNvSpPr/>
          <p:nvPr/>
        </p:nvSpPr>
        <p:spPr>
          <a:xfrm>
            <a:off x="-838200" y="-228600"/>
            <a:ext cx="10820400" cy="73152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lnSpc>
                <a:spcPts val="3600"/>
              </a:lnSpc>
              <a:spcBef>
                <a:spcPts val="24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مربع نص 6"/>
          <p:cNvSpPr txBox="1"/>
          <p:nvPr/>
        </p:nvSpPr>
        <p:spPr>
          <a:xfrm>
            <a:off x="838200" y="304800"/>
            <a:ext cx="88392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اهم العمليات في الدالة الثالثة (</a:t>
            </a:r>
            <a:r>
              <a:rPr lang="en-GB" sz="4800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GB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4800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csvfile</a:t>
            </a:r>
            <a:r>
              <a:rPr lang="ar-SA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:</a:t>
            </a:r>
            <a:endParaRPr lang="ar-SA" sz="48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مربع نص 9"/>
          <p:cNvSpPr txBox="1"/>
          <p:nvPr/>
        </p:nvSpPr>
        <p:spPr>
          <a:xfrm>
            <a:off x="5524500" y="1295400"/>
            <a:ext cx="4114800" cy="440120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 لو كان الملف غير موجود البرنامج يرجع قيمة 1 يعني خطأ.</a:t>
            </a:r>
            <a:endParaRPr lang="ar-SA" sz="2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5- لو كان الملف موجود يطبع البرنامج 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بيانات 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الطالب 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الذي 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سيطلبه 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المستخدم.</a:t>
            </a:r>
          </a:p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6- البرنامج يستقبل اسم الطالب ليخزنه في متغير، والحد المسموح 99 حرفاً من النوع 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(string)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3400" y="1514074"/>
            <a:ext cx="5791200" cy="534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549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/>
          <p:cNvSpPr/>
          <p:nvPr/>
        </p:nvSpPr>
        <p:spPr>
          <a:xfrm>
            <a:off x="-838200" y="-228600"/>
            <a:ext cx="10820400" cy="73152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lnSpc>
                <a:spcPts val="3600"/>
              </a:lnSpc>
              <a:spcBef>
                <a:spcPts val="24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مربع نص 6"/>
          <p:cNvSpPr txBox="1"/>
          <p:nvPr/>
        </p:nvSpPr>
        <p:spPr>
          <a:xfrm>
            <a:off x="838200" y="304800"/>
            <a:ext cx="88392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اهم العمليات في الدالة الثالثة (</a:t>
            </a:r>
            <a:r>
              <a:rPr lang="en-GB" sz="4800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GB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4800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csvfile</a:t>
            </a:r>
            <a:r>
              <a:rPr lang="ar-SA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:</a:t>
            </a:r>
            <a:endParaRPr lang="ar-SA" sz="48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مربع نص 9"/>
          <p:cNvSpPr txBox="1"/>
          <p:nvPr/>
        </p:nvSpPr>
        <p:spPr>
          <a:xfrm>
            <a:off x="5524500" y="1295400"/>
            <a:ext cx="4114800" cy="636809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7- استخدمنا حلقة 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تحتوي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على عدة أوامر، مثل دالة </a:t>
            </a:r>
            <a:r>
              <a:rPr lang="en-GB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fget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وظيفتها أنها تقوم بقراءة سطر واحد فقط وتحتوي على مدخلات وهي : المتغير الذي سنحفظ فيه السطر (مصفوفة 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</a:t>
            </a:r>
          </a:p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وحتى لا نتجاوز السطر نستخدم 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sizeof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(line)</a:t>
            </a: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و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file 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تمثل مؤشر.</a:t>
            </a:r>
          </a:p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والدالة </a:t>
            </a:r>
            <a:r>
              <a:rPr lang="en-GB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fget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تربط بينهم .</a:t>
            </a:r>
            <a:endParaRPr lang="en-GB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3600"/>
              </a:lnSpc>
              <a:spcBef>
                <a:spcPts val="2400"/>
              </a:spcBef>
            </a:pPr>
            <a:endParaRPr lang="ar-SA" sz="2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5799" y="1371600"/>
            <a:ext cx="5861692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57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/>
          <p:cNvSpPr/>
          <p:nvPr/>
        </p:nvSpPr>
        <p:spPr>
          <a:xfrm>
            <a:off x="-838200" y="-228600"/>
            <a:ext cx="10820400" cy="73152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lnSpc>
                <a:spcPts val="3600"/>
              </a:lnSpc>
              <a:spcBef>
                <a:spcPts val="24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مربع نص 6"/>
          <p:cNvSpPr txBox="1"/>
          <p:nvPr/>
        </p:nvSpPr>
        <p:spPr>
          <a:xfrm>
            <a:off x="838200" y="304800"/>
            <a:ext cx="88392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اهم العمليات في الدالة الثالثة (</a:t>
            </a:r>
            <a:r>
              <a:rPr lang="en-GB" sz="4800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GB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4800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csvfile</a:t>
            </a:r>
            <a:r>
              <a:rPr lang="ar-SA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:</a:t>
            </a:r>
            <a:endParaRPr lang="ar-SA" sz="48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مربع نص 9"/>
          <p:cNvSpPr txBox="1"/>
          <p:nvPr/>
        </p:nvSpPr>
        <p:spPr>
          <a:xfrm>
            <a:off x="5524500" y="1295400"/>
            <a:ext cx="4114800" cy="440120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8- تمت إضافة دالة لحذف زر الإدخال </a:t>
            </a:r>
            <a:r>
              <a:rPr lang="en-US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Enter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، وتأخذ السطر وعلامة ال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 التي 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تكافئ أمر الإدخال.</a:t>
            </a: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9- دالة </a:t>
            </a:r>
            <a:r>
              <a:rPr lang="en-GB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strcpy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التي تنسخ النص في دالة تم إضافتها مسبقاً.</a:t>
            </a:r>
          </a:p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10- الدالة النصية 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copy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لغرض نسخ السطر فيها والمقارنة.</a:t>
            </a:r>
            <a:endParaRPr lang="en-GB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5799" y="1371600"/>
            <a:ext cx="5861692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29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/>
          <p:cNvSpPr/>
          <p:nvPr/>
        </p:nvSpPr>
        <p:spPr>
          <a:xfrm>
            <a:off x="-838200" y="-228600"/>
            <a:ext cx="10820400" cy="73152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lnSpc>
                <a:spcPts val="3600"/>
              </a:lnSpc>
              <a:spcBef>
                <a:spcPts val="24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مربع نص 6"/>
          <p:cNvSpPr txBox="1"/>
          <p:nvPr/>
        </p:nvSpPr>
        <p:spPr>
          <a:xfrm>
            <a:off x="838200" y="228600"/>
            <a:ext cx="88392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اهم العمليات في الدالة الثالثة (</a:t>
            </a:r>
            <a:r>
              <a:rPr lang="en-GB" sz="4800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GB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4800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csvfile</a:t>
            </a:r>
            <a:r>
              <a:rPr lang="ar-SA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:</a:t>
            </a:r>
            <a:endParaRPr lang="ar-SA" sz="48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مربع نص 9"/>
          <p:cNvSpPr txBox="1"/>
          <p:nvPr/>
        </p:nvSpPr>
        <p:spPr>
          <a:xfrm>
            <a:off x="5532120" y="1151037"/>
            <a:ext cx="4114800" cy="65556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11- نستخدم دالة </a:t>
            </a:r>
            <a:r>
              <a:rPr lang="en-GB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strtok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وظيفتها هنا تقطيع النصوص داخل السطر المنسوخ (في 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copy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)، وتبحث عن أول فاصلة؛ وهذا لتخزين </a:t>
            </a:r>
            <a:r>
              <a:rPr lang="ar-SA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الإسم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12- الشرط 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if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الأخير في البرنامج يحتوي على </a:t>
            </a:r>
            <a:r>
              <a:rPr lang="en-GB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strcmp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دالة تقارن بين </a:t>
            </a:r>
            <a:r>
              <a:rPr lang="ar-SA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الإسمين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الذي أدخله المستخدم، والمستخرج من الملف.</a:t>
            </a:r>
          </a:p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13- طباعة السطر والتفاصيل مع التنسيق.</a:t>
            </a:r>
            <a:endParaRPr lang="en-GB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3600"/>
              </a:lnSpc>
              <a:spcBef>
                <a:spcPts val="2400"/>
              </a:spcBef>
            </a:pPr>
            <a:endParaRPr lang="ar-SA" sz="2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5799" y="1371600"/>
            <a:ext cx="5861692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250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/>
          <p:cNvSpPr/>
          <p:nvPr/>
        </p:nvSpPr>
        <p:spPr>
          <a:xfrm>
            <a:off x="-838200" y="-228600"/>
            <a:ext cx="10820400" cy="73152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lnSpc>
                <a:spcPts val="3600"/>
              </a:lnSpc>
              <a:spcBef>
                <a:spcPts val="24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مربع نص 6"/>
          <p:cNvSpPr txBox="1"/>
          <p:nvPr/>
        </p:nvSpPr>
        <p:spPr>
          <a:xfrm>
            <a:off x="838200" y="304800"/>
            <a:ext cx="88392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اهم العمليات في الدالة الثالثة (</a:t>
            </a:r>
            <a:r>
              <a:rPr lang="en-GB" sz="4800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GB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4800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csvfile</a:t>
            </a:r>
            <a:r>
              <a:rPr lang="ar-SA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:</a:t>
            </a:r>
            <a:endParaRPr lang="ar-SA" sz="48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مربع نص 9"/>
          <p:cNvSpPr txBox="1"/>
          <p:nvPr/>
        </p:nvSpPr>
        <p:spPr>
          <a:xfrm>
            <a:off x="5524500" y="1295400"/>
            <a:ext cx="4114800" cy="486287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14- للخروج الفوري </a:t>
            </a:r>
            <a:r>
              <a:rPr lang="ar-SA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وكسرالحلقة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وللتوجه لما بعد الحلقة؛ نستخدم الأمر 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break</a:t>
            </a:r>
          </a:p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-15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نضيف الدالة </a:t>
            </a:r>
            <a:r>
              <a:rPr lang="en-GB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fclose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لإغلاق الملف بعد </a:t>
            </a:r>
            <a:r>
              <a:rPr lang="ar-SA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الإنتهاء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وتأخذ الدالة مؤشر الملف (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</a:t>
            </a:r>
          </a:p>
          <a:p>
            <a:pPr>
              <a:lnSpc>
                <a:spcPts val="3600"/>
              </a:lnSpc>
              <a:spcBef>
                <a:spcPts val="24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16- نطلب إرجاع القيمة صفر بعد </a:t>
            </a:r>
            <a:r>
              <a:rPr lang="ar-SA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الإنتهاء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كإشارة لنجاح الكود بلا أخطاء.</a:t>
            </a:r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5799" y="1371600"/>
            <a:ext cx="5861692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7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/>
          <p:cNvSpPr/>
          <p:nvPr/>
        </p:nvSpPr>
        <p:spPr>
          <a:xfrm>
            <a:off x="-838200" y="-228600"/>
            <a:ext cx="10820400" cy="73152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lnSpc>
                <a:spcPts val="3600"/>
              </a:lnSpc>
              <a:spcBef>
                <a:spcPts val="24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مربع نص 6"/>
          <p:cNvSpPr txBox="1"/>
          <p:nvPr/>
        </p:nvSpPr>
        <p:spPr>
          <a:xfrm>
            <a:off x="792480" y="213360"/>
            <a:ext cx="88392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صورة لملف </a:t>
            </a:r>
            <a:r>
              <a:rPr lang="en-GB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4800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csv</a:t>
            </a:r>
            <a:r>
              <a:rPr lang="ar-SA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لقائمة الطلاب : </a:t>
            </a:r>
            <a:endParaRPr lang="ar-SA" sz="48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2238375"/>
            <a:ext cx="7391400" cy="4619625"/>
          </a:xfrm>
          <a:prstGeom prst="rect">
            <a:avLst/>
          </a:prstGeom>
        </p:spPr>
      </p:pic>
      <p:sp>
        <p:nvSpPr>
          <p:cNvPr id="4" name="مربع نص 3"/>
          <p:cNvSpPr txBox="1"/>
          <p:nvPr/>
        </p:nvSpPr>
        <p:spPr>
          <a:xfrm>
            <a:off x="-457200" y="1241219"/>
            <a:ext cx="9906000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1">
            <a:spAutoFit/>
          </a:bodyPr>
          <a:lstStyle/>
          <a:p>
            <a:r>
              <a:rPr lang="ar-SA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ملحوظة : تم استخدام كود مجموع الدرجات على عددها في مربع الدرجة.</a:t>
            </a:r>
            <a:endParaRPr lang="ar-SA" sz="32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0461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/>
          <p:cNvSpPr/>
          <p:nvPr/>
        </p:nvSpPr>
        <p:spPr>
          <a:xfrm>
            <a:off x="-876300" y="-76200"/>
            <a:ext cx="10820400" cy="73152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lnSpc>
                <a:spcPts val="3600"/>
              </a:lnSpc>
              <a:spcBef>
                <a:spcPts val="24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مربع نص 9"/>
          <p:cNvSpPr txBox="1"/>
          <p:nvPr/>
        </p:nvSpPr>
        <p:spPr>
          <a:xfrm>
            <a:off x="-533400" y="1295400"/>
            <a:ext cx="10172700" cy="130279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ts val="3600"/>
              </a:lnSpc>
              <a:spcBef>
                <a:spcPts val="24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3600"/>
              </a:lnSpc>
              <a:spcBef>
                <a:spcPts val="2400"/>
              </a:spcBef>
            </a:pPr>
            <a:endParaRPr lang="en-GB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228600"/>
            <a:ext cx="67056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292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/>
          <p:cNvSpPr/>
          <p:nvPr/>
        </p:nvSpPr>
        <p:spPr>
          <a:xfrm>
            <a:off x="-838200" y="-228600"/>
            <a:ext cx="10820400" cy="73152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lnSpc>
                <a:spcPts val="3600"/>
              </a:lnSpc>
              <a:spcBef>
                <a:spcPts val="24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مربع نص 6"/>
          <p:cNvSpPr txBox="1"/>
          <p:nvPr/>
        </p:nvSpPr>
        <p:spPr>
          <a:xfrm>
            <a:off x="838200" y="304800"/>
            <a:ext cx="88392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4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تمت إضافة الأسطر التالية :</a:t>
            </a:r>
            <a:endParaRPr lang="ar-SA" sz="48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مربع نص 9"/>
          <p:cNvSpPr txBox="1"/>
          <p:nvPr/>
        </p:nvSpPr>
        <p:spPr>
          <a:xfrm>
            <a:off x="-533400" y="1295400"/>
            <a:ext cx="10172700" cy="65556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ts val="3600"/>
              </a:lnSpc>
              <a:spcBef>
                <a:spcPts val="12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لحل مشكلة </a:t>
            </a:r>
            <a:r>
              <a:rPr lang="ar-SA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إنتهاء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البرنامج عند إدخال اسم غير صحيح :</a:t>
            </a:r>
          </a:p>
          <a:p>
            <a:pPr>
              <a:lnSpc>
                <a:spcPts val="3600"/>
              </a:lnSpc>
              <a:spcBef>
                <a:spcPts val="12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في البداية قيمة 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المتغير العددي 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صفر، تعني لم يتم </a:t>
            </a:r>
            <a:r>
              <a:rPr lang="ar-SA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العثورعلى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الطالب.</a:t>
            </a:r>
          </a:p>
          <a:p>
            <a:pPr>
              <a:lnSpc>
                <a:spcPts val="3600"/>
              </a:lnSpc>
              <a:spcBef>
                <a:spcPts val="12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في حالة وجود </a:t>
            </a:r>
            <a:r>
              <a:rPr lang="ar-SA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الإسم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تصبح قيمة 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المتغير 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1 (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found=1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)، تعني تم العثور على الطالب</a:t>
            </a:r>
          </a:p>
          <a:p>
            <a:pPr>
              <a:lnSpc>
                <a:spcPts val="3600"/>
              </a:lnSpc>
              <a:spcBef>
                <a:spcPts val="12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ويتم كسر الحلقة عن طريق 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break</a:t>
            </a: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3600"/>
              </a:lnSpc>
              <a:spcBef>
                <a:spcPts val="12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بعد ذلك يفحص البرنامج قيمة 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found</a:t>
            </a:r>
          </a:p>
          <a:p>
            <a:pPr>
              <a:lnSpc>
                <a:spcPts val="3600"/>
              </a:lnSpc>
              <a:spcBef>
                <a:spcPts val="12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إذا بقيت 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found = 0 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فهذا يعني أن </a:t>
            </a:r>
            <a:r>
              <a:rPr lang="ar-SA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الإسم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غير موجود، فيطبع رسالة الخطأ.</a:t>
            </a:r>
          </a:p>
          <a:p>
            <a:pPr>
              <a:lnSpc>
                <a:spcPts val="3600"/>
              </a:lnSpc>
              <a:spcBef>
                <a:spcPts val="1200"/>
              </a:spcBef>
            </a:pP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إذا أصبحت </a:t>
            </a:r>
            <a:r>
              <a:rPr lang="en-GB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found = 1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فهذا يعني أن </a:t>
            </a:r>
            <a:r>
              <a:rPr lang="ar-SA" sz="28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الإسم</a:t>
            </a:r>
            <a:r>
              <a:rPr lang="ar-SA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موجود، فلا يطبع رسالة الخطأ.</a:t>
            </a:r>
          </a:p>
          <a:p>
            <a:pPr>
              <a:lnSpc>
                <a:spcPts val="3600"/>
              </a:lnSpc>
              <a:spcBef>
                <a:spcPts val="12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3600"/>
              </a:lnSpc>
              <a:spcBef>
                <a:spcPts val="12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3600"/>
              </a:lnSpc>
              <a:spcBef>
                <a:spcPts val="1200"/>
              </a:spcBef>
            </a:pPr>
            <a:endParaRPr lang="en-GB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02193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/>
          <p:cNvSpPr/>
          <p:nvPr/>
        </p:nvSpPr>
        <p:spPr>
          <a:xfrm>
            <a:off x="-838200" y="-228600"/>
            <a:ext cx="10820400" cy="73152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lnSpc>
                <a:spcPts val="3600"/>
              </a:lnSpc>
              <a:spcBef>
                <a:spcPts val="24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مربع نص 9"/>
          <p:cNvSpPr txBox="1"/>
          <p:nvPr/>
        </p:nvSpPr>
        <p:spPr>
          <a:xfrm>
            <a:off x="-533400" y="1295400"/>
            <a:ext cx="10172700" cy="238001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ts val="3600"/>
              </a:lnSpc>
              <a:spcBef>
                <a:spcPts val="12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3600"/>
              </a:lnSpc>
              <a:spcBef>
                <a:spcPts val="12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3600"/>
              </a:lnSpc>
              <a:spcBef>
                <a:spcPts val="12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3600"/>
              </a:lnSpc>
              <a:spcBef>
                <a:spcPts val="1200"/>
              </a:spcBef>
            </a:pPr>
            <a:endParaRPr lang="en-GB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مربع نص 1"/>
          <p:cNvSpPr txBox="1"/>
          <p:nvPr/>
        </p:nvSpPr>
        <p:spPr>
          <a:xfrm>
            <a:off x="-323850" y="152400"/>
            <a:ext cx="97536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تشغيل البرنامج :</a:t>
            </a:r>
            <a:endParaRPr lang="ar-SA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صورة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0540" y="657607"/>
            <a:ext cx="2819400" cy="6035607"/>
          </a:xfrm>
          <a:prstGeom prst="rect">
            <a:avLst/>
          </a:prstGeom>
        </p:spPr>
      </p:pic>
      <p:pic>
        <p:nvPicPr>
          <p:cNvPr id="11" name="صورة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159833"/>
            <a:ext cx="2584797" cy="5533381"/>
          </a:xfrm>
          <a:prstGeom prst="rect">
            <a:avLst/>
          </a:prstGeom>
        </p:spPr>
      </p:pic>
      <p:pic>
        <p:nvPicPr>
          <p:cNvPr id="12" name="صورة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341" y="1201063"/>
            <a:ext cx="2546276" cy="545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41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/>
          <p:cNvSpPr/>
          <p:nvPr/>
        </p:nvSpPr>
        <p:spPr>
          <a:xfrm>
            <a:off x="-838200" y="-228600"/>
            <a:ext cx="10820400" cy="73152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lnSpc>
                <a:spcPts val="3600"/>
              </a:lnSpc>
              <a:spcBef>
                <a:spcPts val="24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مربع نص 9"/>
          <p:cNvSpPr txBox="1"/>
          <p:nvPr/>
        </p:nvSpPr>
        <p:spPr>
          <a:xfrm>
            <a:off x="-533400" y="1295400"/>
            <a:ext cx="10172700" cy="238001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ts val="3600"/>
              </a:lnSpc>
              <a:spcBef>
                <a:spcPts val="12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3600"/>
              </a:lnSpc>
              <a:spcBef>
                <a:spcPts val="12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3600"/>
              </a:lnSpc>
              <a:spcBef>
                <a:spcPts val="12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3600"/>
              </a:lnSpc>
              <a:spcBef>
                <a:spcPts val="1200"/>
              </a:spcBef>
            </a:pPr>
            <a:endParaRPr lang="en-GB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مربع نص 1"/>
          <p:cNvSpPr txBox="1"/>
          <p:nvPr/>
        </p:nvSpPr>
        <p:spPr>
          <a:xfrm>
            <a:off x="-323850" y="152400"/>
            <a:ext cx="97536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36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تشغيل البرنامج :</a:t>
            </a:r>
            <a:endParaRPr lang="ar-SA" sz="36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482"/>
            <a:ext cx="3088200" cy="6611035"/>
          </a:xfrm>
          <a:prstGeom prst="rect">
            <a:avLst/>
          </a:prstGeom>
        </p:spPr>
      </p:pic>
      <p:pic>
        <p:nvPicPr>
          <p:cNvPr id="5" name="صورة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798731"/>
            <a:ext cx="2732247" cy="5849033"/>
          </a:xfrm>
          <a:prstGeom prst="rect">
            <a:avLst/>
          </a:prstGeom>
        </p:spPr>
      </p:pic>
      <p:pic>
        <p:nvPicPr>
          <p:cNvPr id="6" name="صورة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064" y="1085164"/>
            <a:ext cx="2598446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74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/>
          <p:cNvSpPr/>
          <p:nvPr/>
        </p:nvSpPr>
        <p:spPr>
          <a:xfrm>
            <a:off x="-838200" y="-228600"/>
            <a:ext cx="10820400" cy="73152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lnSpc>
                <a:spcPts val="3600"/>
              </a:lnSpc>
              <a:spcBef>
                <a:spcPts val="24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مربع نص 9"/>
          <p:cNvSpPr txBox="1"/>
          <p:nvPr/>
        </p:nvSpPr>
        <p:spPr>
          <a:xfrm>
            <a:off x="1752600" y="1203960"/>
            <a:ext cx="10172700" cy="238001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ts val="3600"/>
              </a:lnSpc>
              <a:spcBef>
                <a:spcPts val="12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3600"/>
              </a:lnSpc>
              <a:spcBef>
                <a:spcPts val="12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3600"/>
              </a:lnSpc>
              <a:spcBef>
                <a:spcPts val="1200"/>
              </a:spcBef>
            </a:pPr>
            <a:endParaRPr lang="ar-SA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3600"/>
              </a:lnSpc>
              <a:spcBef>
                <a:spcPts val="1200"/>
              </a:spcBef>
            </a:pPr>
            <a:endParaRPr lang="en-GB" sz="2800" b="1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مربع نص 1"/>
          <p:cNvSpPr txBox="1"/>
          <p:nvPr/>
        </p:nvSpPr>
        <p:spPr>
          <a:xfrm>
            <a:off x="-304800" y="2393965"/>
            <a:ext cx="9753600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60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اكتمل البرنامج...</a:t>
            </a:r>
            <a:endParaRPr lang="ar-SA" sz="6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867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4678</TotalTime>
  <Words>929</Words>
  <Application>Microsoft Office PowerPoint</Application>
  <PresentationFormat>عرض على الشاشة (3:4)‏</PresentationFormat>
  <Paragraphs>103</Paragraphs>
  <Slides>23</Slides>
  <Notes>1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23</vt:i4>
      </vt:variant>
    </vt:vector>
  </HeadingPairs>
  <TitlesOfParts>
    <vt:vector size="24" baseType="lpstr">
      <vt:lpstr>نسق Office</vt:lpstr>
      <vt:lpstr>جامعة النيلين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UNIVERSTIY OF NILINE</dc:title>
  <dc:creator>عبد العزيز سيف الدين</dc:creator>
  <cp:lastModifiedBy>عبد العزيز سيف الدين</cp:lastModifiedBy>
  <cp:revision>83</cp:revision>
  <dcterms:created xsi:type="dcterms:W3CDTF">2024-10-24T10:29:25Z</dcterms:created>
  <dcterms:modified xsi:type="dcterms:W3CDTF">2024-10-31T23:41:30Z</dcterms:modified>
</cp:coreProperties>
</file>